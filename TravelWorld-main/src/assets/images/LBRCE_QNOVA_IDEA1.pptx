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1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7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1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7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6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09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4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8/25/2025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3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wavequantum.com/resources/application/portfolio-optimization-of-60-stocks-using-classical-and-quantum-algorithms/" TargetMode="External"/><Relationship Id="rId3" Type="http://schemas.openxmlformats.org/officeDocument/2006/relationships/hyperlink" Target="https://www.nature.com/articles/s41598-023-45392-w" TargetMode="External"/><Relationship Id="rId7" Type="http://schemas.openxmlformats.org/officeDocument/2006/relationships/hyperlink" Target="https://aws.amazon.com/blogs/quantum-computing/a-detailed-end-to-end-assessment-of-a-quantum-algorithm-for-portfolio-optimization-released-by-goldman-sachs-and-a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34-024-00825-w" TargetMode="External"/><Relationship Id="rId5" Type="http://schemas.openxmlformats.org/officeDocument/2006/relationships/hyperlink" Target="https://quantum.cloud.ibm.com/docs/guides/global-data-quantum-optimizer" TargetMode="External"/><Relationship Id="rId4" Type="http://schemas.openxmlformats.org/officeDocument/2006/relationships/hyperlink" Target="https://arxiv.org/abs/2407.1985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FCCD4C3-17F4-425F-A2B6-AAF5D7770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42796-1421-FE8E-BAF8-20BBCECDD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8427719" cy="222567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b="1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Amaravati Quantum Valley </a:t>
            </a:r>
            <a:br>
              <a:rPr lang="en-US" sz="5000" b="1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</a:br>
            <a:r>
              <a:rPr lang="en-US" sz="5000" b="1" kern="120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rPr>
              <a:t>Hackathon 2025</a:t>
            </a:r>
            <a:endParaRPr lang="en-US" sz="5000" kern="1200">
              <a:gradFill>
                <a:gsLst>
                  <a:gs pos="100000">
                    <a:schemeClr val="tx2"/>
                  </a:gs>
                  <a:gs pos="0">
                    <a:schemeClr val="accent1"/>
                  </a:gs>
                </a:gsLst>
                <a:lin ang="0" scaled="1"/>
              </a:gradFill>
              <a:latin typeface="Aharoni" panose="02010803020104030203" pitchFamily="2" charset="-79"/>
              <a:ea typeface="+mn-ea"/>
              <a:cs typeface="Angsana New" panose="02020603050405020304" pitchFamily="18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DB4D3-F73E-AF42-3002-01665B4AD037}"/>
              </a:ext>
            </a:extLst>
          </p:cNvPr>
          <p:cNvSpPr txBox="1"/>
          <p:nvPr/>
        </p:nvSpPr>
        <p:spPr>
          <a:xfrm>
            <a:off x="4217126" y="3128554"/>
            <a:ext cx="7136674" cy="3043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/>
              <a:t>Problem Statement ID - </a:t>
            </a:r>
            <a:r>
              <a:rPr lang="en-US" dirty="0"/>
              <a:t>AQVH916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/>
              <a:t>Problem Statement Title-</a:t>
            </a:r>
            <a:r>
              <a:rPr lang="en-US" dirty="0"/>
              <a:t>Maximize returns while minimizing risk (Sharpe ratio) with QAOA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/>
              <a:t>Theme-</a:t>
            </a:r>
            <a:r>
              <a:rPr lang="en-US" dirty="0"/>
              <a:t>Quantum Optimization: Portfolio Optimization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/>
              <a:t>PS Category- </a:t>
            </a:r>
            <a:r>
              <a:rPr lang="en-US" dirty="0"/>
              <a:t>Software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/>
              <a:t>Team ID- </a:t>
            </a:r>
            <a:r>
              <a:rPr lang="en-US" dirty="0"/>
              <a:t>C-17889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/>
              <a:t>Team Name- </a:t>
            </a:r>
            <a:r>
              <a:rPr lang="en-US" dirty="0"/>
              <a:t>LBRCE QNOVA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232444-E54B-4C3E-4671-A3493BA9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28869" r="23125" b="33943"/>
          <a:stretch>
            <a:fillRect/>
          </a:stretch>
        </p:blipFill>
        <p:spPr>
          <a:xfrm>
            <a:off x="9921516" y="189752"/>
            <a:ext cx="2049596" cy="6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7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ACE7B3-95F8-4659-20F4-DF45474DEB81}"/>
              </a:ext>
            </a:extLst>
          </p:cNvPr>
          <p:cNvSpPr txBox="1"/>
          <p:nvPr/>
        </p:nvSpPr>
        <p:spPr>
          <a:xfrm>
            <a:off x="155448" y="115730"/>
            <a:ext cx="1939331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LBRCE QNOVA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E6CA6-E16E-7A13-236C-ED78642292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28869" r="23125" b="33943"/>
          <a:stretch>
            <a:fillRect/>
          </a:stretch>
        </p:blipFill>
        <p:spPr>
          <a:xfrm>
            <a:off x="10189029" y="96655"/>
            <a:ext cx="1782084" cy="754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CB0A08-3250-0187-FD42-61139C0BDC77}"/>
              </a:ext>
            </a:extLst>
          </p:cNvPr>
          <p:cNvSpPr txBox="1"/>
          <p:nvPr/>
        </p:nvSpPr>
        <p:spPr>
          <a:xfrm>
            <a:off x="2401556" y="138974"/>
            <a:ext cx="7787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Efficient frontier using the quantum computing</a:t>
            </a:r>
            <a:endParaRPr lang="en-IN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7DB2C-ED79-066F-F842-164E990FCB64}"/>
              </a:ext>
            </a:extLst>
          </p:cNvPr>
          <p:cNvSpPr txBox="1"/>
          <p:nvPr/>
        </p:nvSpPr>
        <p:spPr>
          <a:xfrm>
            <a:off x="155448" y="737536"/>
            <a:ext cx="116949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Formulation (Efficient Frontier)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N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Classical Setup:</a:t>
            </a:r>
          </a:p>
          <a:p>
            <a:r>
              <a:rPr lang="en-IN" b="1" dirty="0"/>
              <a:t>		</a:t>
            </a:r>
            <a:r>
              <a:rPr lang="en-IN" dirty="0"/>
              <a:t>The goal of portfolio optimization is to find the best allocation of funds across a set of assets      </a:t>
            </a:r>
          </a:p>
          <a:p>
            <a:r>
              <a:rPr lang="en-IN" dirty="0"/>
              <a:t>      to achieve an optimal balance between </a:t>
            </a:r>
            <a:r>
              <a:rPr lang="en-IN" b="1" dirty="0"/>
              <a:t>risk</a:t>
            </a:r>
            <a:r>
              <a:rPr lang="en-IN" dirty="0"/>
              <a:t> (variance of portfolio returns) and </a:t>
            </a:r>
            <a:r>
              <a:rPr lang="en-IN" b="1" dirty="0"/>
              <a:t>expected return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 descr="A diagram of a business diagram&#10;&#10;AI-generated content may be incorrect.">
            <a:extLst>
              <a:ext uri="{FF2B5EF4-FFF2-40B4-BE49-F238E27FC236}">
                <a16:creationId xmlns:a16="http://schemas.microsoft.com/office/drawing/2014/main" id="{A2B346A6-4166-B2C6-7209-B5C6DC0A5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580" y="1959685"/>
            <a:ext cx="3149260" cy="2362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3B725-E0FE-0B74-9FB9-B593931CC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479" y="2028198"/>
            <a:ext cx="2983214" cy="5652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20E038-C56A-1C8E-097B-B640BB6E2ED1}"/>
              </a:ext>
            </a:extLst>
          </p:cNvPr>
          <p:cNvSpPr txBox="1"/>
          <p:nvPr/>
        </p:nvSpPr>
        <p:spPr>
          <a:xfrm>
            <a:off x="510160" y="2733510"/>
            <a:ext cx="5496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Constraints:</a:t>
            </a:r>
          </a:p>
          <a:p>
            <a:r>
              <a:rPr lang="en-IN" dirty="0"/>
              <a:t>	Budgets 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2BE36E-CB38-FA78-7FFF-32BB2798C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410" y="3041235"/>
            <a:ext cx="3486637" cy="2476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5EF5FB-788C-65F0-4DEC-D84CED83B8BF}"/>
              </a:ext>
            </a:extLst>
          </p:cNvPr>
          <p:cNvSpPr txBox="1"/>
          <p:nvPr/>
        </p:nvSpPr>
        <p:spPr>
          <a:xfrm>
            <a:off x="599552" y="4001647"/>
            <a:ext cx="93650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Realistic Constraints: </a:t>
            </a:r>
          </a:p>
          <a:p>
            <a:r>
              <a:rPr lang="en-IN" b="1" dirty="0"/>
              <a:t>		</a:t>
            </a:r>
            <a:r>
              <a:rPr lang="en-IN" dirty="0"/>
              <a:t>Real portfolios often require additional real-life constraints, making the problem </a:t>
            </a: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combinatorial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en-IN" dirty="0"/>
              <a:t>and thus computationally challenging</a:t>
            </a:r>
          </a:p>
          <a:p>
            <a:pPr lvl="0"/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Cardinality constraint: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en-IN" dirty="0"/>
              <a:t>Choose exactly K assets out of N.</a:t>
            </a:r>
          </a:p>
          <a:p>
            <a:pPr lvl="0"/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Discrete weights</a:t>
            </a:r>
            <a:r>
              <a:rPr lang="en-IN" b="1" dirty="0"/>
              <a:t>:</a:t>
            </a:r>
            <a:r>
              <a:rPr lang="en-IN" dirty="0"/>
              <a:t> Investments can only be multiples of fixed steps (e.g., 5% increments).</a:t>
            </a:r>
          </a:p>
          <a:p>
            <a:pPr lvl="0"/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Sector restrictions:</a:t>
            </a:r>
            <a:r>
              <a:rPr lang="en-IN" dirty="0"/>
              <a:t> Limits on investments by sector (e.g., maximum 3 stocks in financials).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EEBD7-4B13-F6C8-6E82-99BD0BCE42AB}"/>
              </a:ext>
            </a:extLst>
          </p:cNvPr>
          <p:cNvSpPr txBox="1"/>
          <p:nvPr/>
        </p:nvSpPr>
        <p:spPr>
          <a:xfrm>
            <a:off x="1439075" y="3429000"/>
            <a:ext cx="476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 short selling: w≥0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59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04FD-686B-B9FD-70CD-7FC6FB914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0" y="221065"/>
            <a:ext cx="2924070" cy="532561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94F05-8495-64B4-2447-6D17C086C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05" y="590397"/>
            <a:ext cx="11062398" cy="59079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QUBO Transformation</a:t>
            </a:r>
            <a:b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sz="1800" dirty="0"/>
              <a:t>Quantum solvers need a Quadratic Unconstrained Binary Optimization (QUBO) form: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328CC-0A09-EDAA-2F45-4933B18A7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28869" r="23125" b="33943"/>
          <a:stretch>
            <a:fillRect/>
          </a:stretch>
        </p:blipFill>
        <p:spPr>
          <a:xfrm>
            <a:off x="10189029" y="96655"/>
            <a:ext cx="1782084" cy="7548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D84D56-1911-8E2C-59DC-60CA8D8771F8}"/>
              </a:ext>
            </a:extLst>
          </p:cNvPr>
          <p:cNvSpPr txBox="1"/>
          <p:nvPr/>
        </p:nvSpPr>
        <p:spPr>
          <a:xfrm>
            <a:off x="161105" y="104517"/>
            <a:ext cx="1909187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LBRCE QNOVA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560A29-8224-46B3-7F42-EB3809804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377" y="853518"/>
            <a:ext cx="1330514" cy="8703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6D7541-998D-C97C-FFC8-F4574D0C0CD9}"/>
              </a:ext>
            </a:extLst>
          </p:cNvPr>
          <p:cNvSpPr txBox="1"/>
          <p:nvPr/>
        </p:nvSpPr>
        <p:spPr>
          <a:xfrm>
            <a:off x="462222" y="1170206"/>
            <a:ext cx="8641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Where: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659EBD1-BDA4-7667-855A-697DEC9A1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731" y="1290585"/>
            <a:ext cx="5651037" cy="5689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F3B918E-AFE5-42B3-014B-92C894864488}"/>
              </a:ext>
            </a:extLst>
          </p:cNvPr>
          <p:cNvSpPr txBox="1"/>
          <p:nvPr/>
        </p:nvSpPr>
        <p:spPr>
          <a:xfrm>
            <a:off x="462222" y="1976710"/>
            <a:ext cx="93148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QUBO objective becomes:</a:t>
            </a:r>
          </a:p>
          <a:p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 term:</a:t>
            </a:r>
          </a:p>
          <a:p>
            <a:r>
              <a:rPr lang="en-IN" b="1" dirty="0"/>
              <a:t>Return term:</a:t>
            </a:r>
            <a:r>
              <a:rPr lang="en-IN" dirty="0"/>
              <a:t>                  , rewards high return</a:t>
            </a:r>
          </a:p>
          <a:p>
            <a:r>
              <a:rPr lang="en-IN" b="1" dirty="0"/>
              <a:t>Penalty</a:t>
            </a:r>
            <a:r>
              <a:rPr lang="en-IN" dirty="0"/>
              <a:t>:                ,ensures exactly K assets are chosen.</a:t>
            </a:r>
            <a:br>
              <a:rPr lang="en-IN" dirty="0"/>
            </a:br>
            <a:r>
              <a:rPr lang="en-IN" dirty="0"/>
              <a:t>M is a large constant controlling penalty strength.</a:t>
            </a:r>
          </a:p>
          <a:p>
            <a:r>
              <a:rPr lang="en-IN" dirty="0"/>
              <a:t>By encoding portfolio optimization this way, the problem suits quantum techniques for combinatorial optimization.</a:t>
            </a:r>
          </a:p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770B70E-C435-3C4F-47E5-4A787453D8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938" y="2062145"/>
            <a:ext cx="2695951" cy="22863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16011A5-7792-9C27-55F3-4DE507574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0878" y="2317105"/>
            <a:ext cx="2305372" cy="22863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7E341DC-A61B-DDE5-560D-1B21C84963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389" y="2616203"/>
            <a:ext cx="923191" cy="2476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F372E71-D3E2-49C5-AC33-06330CC20A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539" y="2886132"/>
            <a:ext cx="860679" cy="26640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46603C6-1AC8-B799-9479-17DF31BDB5DE}"/>
              </a:ext>
            </a:extLst>
          </p:cNvPr>
          <p:cNvSpPr txBox="1"/>
          <p:nvPr/>
        </p:nvSpPr>
        <p:spPr>
          <a:xfrm>
            <a:off x="220887" y="3938452"/>
            <a:ext cx="11241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Mapping QUBO to Quantum Computers</a:t>
            </a:r>
            <a:endParaRPr lang="en-IN" dirty="0"/>
          </a:p>
          <a:p>
            <a:r>
              <a:rPr lang="en-IN" b="1" dirty="0"/>
              <a:t>     Quantum Approximate Optimization Algorithm (QAOA)</a:t>
            </a:r>
            <a:endParaRPr lang="en-IN" dirty="0"/>
          </a:p>
          <a:p>
            <a:r>
              <a:rPr lang="en-IN" dirty="0"/>
              <a:t>     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7DCCB5-47C2-30AE-5F8D-58A4B76C092F}"/>
              </a:ext>
            </a:extLst>
          </p:cNvPr>
          <p:cNvSpPr txBox="1"/>
          <p:nvPr/>
        </p:nvSpPr>
        <p:spPr>
          <a:xfrm>
            <a:off x="462222" y="4549676"/>
            <a:ext cx="106178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Maps the QUBO problem into a quantum Hamiltonian using Pauli-Z operators.</a:t>
            </a:r>
          </a:p>
          <a:p>
            <a:pPr lvl="0"/>
            <a:r>
              <a:rPr lang="en-IN" dirty="0"/>
              <a:t>The quantum circuit alternates between applying:</a:t>
            </a:r>
          </a:p>
          <a:p>
            <a:pPr lvl="0"/>
            <a:r>
              <a:rPr lang="en-IN" dirty="0"/>
              <a:t>After p layers, measures the quantum state to sample candidate portfolios.</a:t>
            </a:r>
          </a:p>
          <a:p>
            <a:pPr lvl="0"/>
            <a:r>
              <a:rPr lang="en-IN" dirty="0"/>
              <a:t>Classical optimizer fine-tunes angles γ, β to minimize expected cost.</a:t>
            </a:r>
          </a:p>
          <a:p>
            <a:pPr lvl="0"/>
            <a:r>
              <a:rPr lang="en-IN" dirty="0"/>
              <a:t>Sweeps over λ to obtain full efficient frontier with quantum solutions.</a:t>
            </a:r>
          </a:p>
          <a:p>
            <a:r>
              <a:rPr lang="en-IN" b="1" dirty="0"/>
              <a:t>Quantum Annealing (QA)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Expresses the problem as an Ising model energy function:</a:t>
            </a:r>
          </a:p>
          <a:p>
            <a:endParaRPr lang="en-IN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D5A07C6-AB7E-DD31-F524-00B51037B9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546" y="4941872"/>
            <a:ext cx="1514686" cy="209579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F855A4A-1647-0A3E-9B05-61F52BB77D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790" y="4964624"/>
            <a:ext cx="1694015" cy="1981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64442D-9465-FEB9-B14A-B3EB88B2FA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944" y="6294881"/>
            <a:ext cx="1810003" cy="333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416485-BA60-1AF6-9098-85C8121F820E}"/>
              </a:ext>
            </a:extLst>
          </p:cNvPr>
          <p:cNvSpPr txBox="1"/>
          <p:nvPr/>
        </p:nvSpPr>
        <p:spPr>
          <a:xfrm>
            <a:off x="4322618" y="26776"/>
            <a:ext cx="3194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Approach</a:t>
            </a:r>
            <a:endParaRPr lang="en-IN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64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83FD71-B6DA-EC83-1DBF-54267CB4D7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28869" r="23125" b="33943"/>
          <a:stretch>
            <a:fillRect/>
          </a:stretch>
        </p:blipFill>
        <p:spPr>
          <a:xfrm>
            <a:off x="10189029" y="96655"/>
            <a:ext cx="1782084" cy="7548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6072ED-F9CE-36BF-7F3C-87CFE01D4CF0}"/>
              </a:ext>
            </a:extLst>
          </p:cNvPr>
          <p:cNvSpPr txBox="1"/>
          <p:nvPr/>
        </p:nvSpPr>
        <p:spPr>
          <a:xfrm>
            <a:off x="150724" y="128275"/>
            <a:ext cx="1927458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LBRCE QNOVA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32F3A-15A0-617A-136D-CE8E17F572BB}"/>
              </a:ext>
            </a:extLst>
          </p:cNvPr>
          <p:cNvSpPr txBox="1"/>
          <p:nvPr/>
        </p:nvSpPr>
        <p:spPr>
          <a:xfrm>
            <a:off x="150724" y="579358"/>
            <a:ext cx="120412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Starts in an easy-to-prepare ground state, then slowly morphs the system to the target </a:t>
            </a:r>
          </a:p>
          <a:p>
            <a:r>
              <a:rPr lang="en-IN" dirty="0"/>
              <a:t>      Hamiltonian reflecting portfolio optimization.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System settles into low-energy states corresponding to optimal asset selections.</a:t>
            </a:r>
          </a:p>
          <a:p>
            <a:pPr lvl="0"/>
            <a:r>
              <a:rPr lang="en-IN" dirty="0"/>
              <a:t>      Particularly effective on specialized QA hardware (e.g., D-Wave).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 the Efficient Frontier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Define a grid of λ values between 0 and 1 controlling risk-return preference.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For each λ:</a:t>
            </a:r>
          </a:p>
          <a:p>
            <a:r>
              <a:rPr lang="en-IN" dirty="0"/>
              <a:t>     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3. Collect (</a:t>
            </a:r>
            <a:r>
              <a:rPr lang="en-IN" dirty="0" err="1"/>
              <a:t>σ,R</a:t>
            </a:r>
            <a:r>
              <a:rPr lang="en-IN" dirty="0"/>
              <a:t>) points for all 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4. Plot the </a:t>
            </a:r>
            <a:r>
              <a:rPr lang="en-IN" b="1" dirty="0"/>
              <a:t>Quantum Efficient Frontier</a:t>
            </a:r>
            <a:r>
              <a:rPr lang="en-IN" dirty="0"/>
              <a:t>, showcasing optimal trade-offs.</a:t>
            </a:r>
          </a:p>
          <a:p>
            <a:endParaRPr lang="en-IN" dirty="0"/>
          </a:p>
        </p:txBody>
      </p:sp>
      <p:pic>
        <p:nvPicPr>
          <p:cNvPr id="26" name="Picture 2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0ECE887-9F6A-1713-7049-D9ADE39C3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379" y="2579083"/>
            <a:ext cx="4448796" cy="154957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E2C1471-3C34-D42F-3E8A-CE12AC1DCBB3}"/>
              </a:ext>
            </a:extLst>
          </p:cNvPr>
          <p:cNvSpPr txBox="1"/>
          <p:nvPr/>
        </p:nvSpPr>
        <p:spPr>
          <a:xfrm>
            <a:off x="150724" y="4826675"/>
            <a:ext cx="116661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 </a:t>
            </a: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Quantum Computers Help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IN" b="1" dirty="0"/>
              <a:t>  </a:t>
            </a: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Classical: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en-IN" dirty="0"/>
              <a:t>Evaluate portfolios sequentially; extremely costly for large combinatorial spaces.</a:t>
            </a:r>
          </a:p>
          <a:p>
            <a:pPr lvl="0"/>
            <a:r>
              <a:rPr lang="en-US" dirty="0"/>
              <a:t>  Classical computers cannot handle computation based on huge number of combinations but quantum can     </a:t>
            </a:r>
          </a:p>
          <a:p>
            <a:pPr lvl="0"/>
            <a:r>
              <a:rPr lang="en-US" dirty="0"/>
              <a:t>  check any number of combinations easier and faster than classical.</a:t>
            </a:r>
            <a:endParaRPr lang="en-IN" dirty="0"/>
          </a:p>
          <a:p>
            <a:pPr lvl="0"/>
            <a:r>
              <a:rPr lang="en-IN" b="1" dirty="0"/>
              <a:t>  </a:t>
            </a: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Quantum: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en-IN" dirty="0"/>
              <a:t>Use superposition to represent all portfolio possibilities simultaneously.</a:t>
            </a:r>
          </a:p>
          <a:p>
            <a:pPr lvl="0"/>
            <a:r>
              <a:rPr lang="en-IN" dirty="0"/>
              <a:t>  Quantum interference adjusts probabilities towards good portfolios.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935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A00FC-1BBB-5442-0358-5F6AAA23B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28869" r="23125" b="33943"/>
          <a:stretch>
            <a:fillRect/>
          </a:stretch>
        </p:blipFill>
        <p:spPr>
          <a:xfrm>
            <a:off x="10387173" y="180585"/>
            <a:ext cx="1583940" cy="670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96B8BC-A769-E8C5-998C-A741F52E7585}"/>
              </a:ext>
            </a:extLst>
          </p:cNvPr>
          <p:cNvSpPr txBox="1"/>
          <p:nvPr/>
        </p:nvSpPr>
        <p:spPr>
          <a:xfrm>
            <a:off x="119287" y="102886"/>
            <a:ext cx="1910993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LBRCE QNOVA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D04E1-81CC-F68E-337D-742CC73B28DA}"/>
              </a:ext>
            </a:extLst>
          </p:cNvPr>
          <p:cNvSpPr txBox="1"/>
          <p:nvPr/>
        </p:nvSpPr>
        <p:spPr>
          <a:xfrm>
            <a:off x="220887" y="546951"/>
            <a:ext cx="9902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Transforms Portfolio Optimization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/>
              <a:t>– Solves complex real-world constraints (sector limits, discrete weights, cardinality) that classical solvers struggle with.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Quantum Advantage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/>
              <a:t>– Uses superposition and interference to explore many portfolio combinations simultaneously, reducing computation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Industry Shift</a:t>
            </a:r>
            <a:r>
              <a:rPr lang="en-US" dirty="0"/>
              <a:t> – Drives adoption of quantum-classical hybrid methods, influencing investment strategies, risk management, and financial research.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AFDA5F-6C55-30EB-8230-72FD517FD534}"/>
              </a:ext>
            </a:extLst>
          </p:cNvPr>
          <p:cNvSpPr txBox="1"/>
          <p:nvPr/>
        </p:nvSpPr>
        <p:spPr>
          <a:xfrm>
            <a:off x="4174837" y="102886"/>
            <a:ext cx="3181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&amp; BENEFITS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D842E1-3BBE-8FDD-F424-14A420FD203B}"/>
              </a:ext>
            </a:extLst>
          </p:cNvPr>
          <p:cNvSpPr txBox="1"/>
          <p:nvPr/>
        </p:nvSpPr>
        <p:spPr>
          <a:xfrm>
            <a:off x="220887" y="2550512"/>
            <a:ext cx="958813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Better Decision-Making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N" dirty="0"/>
              <a:t>– Provides clearer risk-return trade-offs through a quantum-optimized efficient frontier.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Scalable &amp; Faster</a:t>
            </a:r>
            <a:r>
              <a:rPr lang="en-IN" dirty="0"/>
              <a:t> – Handles large-scale portfolios with constraints much quicker than classical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Future-Ready</a:t>
            </a:r>
            <a:r>
              <a:rPr lang="en-IN" dirty="0"/>
              <a:t> – Positions finance for next-gen quantum hardware, giving early adopters a competitive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Required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considering top 50 (Nifty Companies) for 3 years data and taking O H L C </a:t>
            </a:r>
          </a:p>
          <a:p>
            <a:r>
              <a:rPr lang="en-US" dirty="0"/>
              <a:t>     (open, high, low and close stock).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will be 252 working days per year for market, considering all       these </a:t>
            </a:r>
            <a:r>
              <a:rPr lang="en-US" dirty="0" err="1"/>
              <a:t>parameters,The</a:t>
            </a:r>
            <a:r>
              <a:rPr lang="en-US" dirty="0"/>
              <a:t> feature size is: 252 * 3 * 4 * 50= 1,51,200 features.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Amplitude Encoding</a:t>
            </a:r>
          </a:p>
          <a:p>
            <a:r>
              <a:rPr lang="en-US"/>
              <a:t>     Required </a:t>
            </a:r>
            <a:r>
              <a:rPr lang="en-US" dirty="0"/>
              <a:t>Qubits= log, (1,51,200 ) = 17.2 Qubits for features.</a:t>
            </a:r>
            <a:endParaRPr lang="en-IN" dirty="0"/>
          </a:p>
          <a:p>
            <a:endParaRPr lang="en-IN" dirty="0"/>
          </a:p>
        </p:txBody>
      </p:sp>
      <p:pic>
        <p:nvPicPr>
          <p:cNvPr id="17" name="Picture 16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C4CDBC8A-2DED-439B-6034-C816C4492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749" y="1154545"/>
            <a:ext cx="3113924" cy="561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06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54979F-6198-3F5F-A468-5333E9B2EB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28869" r="23125" b="33943"/>
          <a:stretch>
            <a:fillRect/>
          </a:stretch>
        </p:blipFill>
        <p:spPr>
          <a:xfrm>
            <a:off x="10189029" y="96655"/>
            <a:ext cx="1782084" cy="754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9BFB58-C72F-6221-9348-A19A90CDBCF9}"/>
              </a:ext>
            </a:extLst>
          </p:cNvPr>
          <p:cNvSpPr txBox="1"/>
          <p:nvPr/>
        </p:nvSpPr>
        <p:spPr>
          <a:xfrm>
            <a:off x="144025" y="90448"/>
            <a:ext cx="1858945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b="1" dirty="0"/>
              <a:t>LBRCE QNOVA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5F716-DB64-0749-D4B7-F561B52051B8}"/>
              </a:ext>
            </a:extLst>
          </p:cNvPr>
          <p:cNvSpPr txBox="1"/>
          <p:nvPr/>
        </p:nvSpPr>
        <p:spPr>
          <a:xfrm>
            <a:off x="4336803" y="116176"/>
            <a:ext cx="3518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&amp; REFERNECE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4B0B1-32F2-5E13-CDDD-9ED639BFD932}"/>
              </a:ext>
            </a:extLst>
          </p:cNvPr>
          <p:cNvSpPr txBox="1"/>
          <p:nvPr/>
        </p:nvSpPr>
        <p:spPr>
          <a:xfrm>
            <a:off x="319111" y="832514"/>
            <a:ext cx="116520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1.Quantum Portfolio Optimization Foundations and Best Practices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"Best practices for portfolio optimization by quantum computing" (Nature Scientific Reports, 2023)</a:t>
            </a:r>
            <a:b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https://www.nature.com/articles/s41598-023-45392-w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2.QUBO Formulation and Quantum Algorithms for Portfolio Optimization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"PO-QA: A Framework for Portfolio Optimization using Quantum Annealing" (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arXiv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2024)</a:t>
            </a:r>
            <a:b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https://arxiv.org/abs/2407.19857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"Quantum Portfolio Optimizer - A 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Qiskit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Function by Global Data" (IBM Quantum Documentation)</a:t>
            </a:r>
            <a:b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https://quantum.cloud.ibm.com/docs/guides/global-data-quantum-optimizer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3.Quantum Approximate Optimization Algorithm (QAOA) and Hybrid Quantum-Classical Techniques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"Short-depth QAOA circuits and quantum annealing" (Nature, 2024)</a:t>
            </a:r>
            <a:b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6"/>
              </a:rPr>
              <a:t>https://www.nature.com/articles/s41534-024-00825-w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"A detailed, end-to-end assessment of a quantum algorithm for portfolio optimization" (AWS &amp; Goldman Sachs, 2023)</a:t>
            </a:r>
            <a:b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7"/>
              </a:rPr>
              <a:t>https://aws.amazon.com/blogs/quantum-computing/a-detailed-end-to-end-assessment-of-a-quantum-algorithm-for-portfolio-optimization-released-by-goldman-sachs-and-aws/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/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4.Quantum Annealing and Ising Model Approaches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"Portfolio Optimization of 60 Stocks Using Classical and Quantum Algorithms" (D-Wave)</a:t>
            </a:r>
            <a:b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N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8"/>
              </a:rPr>
              <a:t>https://www.dwavequantum.com/resources/application/portfolio-optimization-of-60-stocks-using-classical-and-quantum-algorithms/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72983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919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Aharoni</vt:lpstr>
      <vt:lpstr>Arial</vt:lpstr>
      <vt:lpstr>Avenir Next LT Pro</vt:lpstr>
      <vt:lpstr>Tahoma</vt:lpstr>
      <vt:lpstr>Wingdings</vt:lpstr>
      <vt:lpstr>FadeVTI</vt:lpstr>
      <vt:lpstr>Amaravati Quantum Valley  Hackathon 2025</vt:lpstr>
      <vt:lpstr>PowerPoint Presentation</vt:lpstr>
      <vt:lpstr>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Amaravati Quantum Valley  Hackathon 2025</dc:title>
  <dc:creator>22761A05F0</dc:creator>
  <cp:lastModifiedBy>Giridhara venkata Krishna sai Kalakonda</cp:lastModifiedBy>
  <cp:revision>8</cp:revision>
  <dcterms:created xsi:type="dcterms:W3CDTF">2025-08-24T04:19:49Z</dcterms:created>
  <dcterms:modified xsi:type="dcterms:W3CDTF">2025-08-25T07:35:36Z</dcterms:modified>
</cp:coreProperties>
</file>